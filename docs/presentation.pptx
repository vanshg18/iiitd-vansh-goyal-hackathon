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80467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S&amp;P GLOBAL &amp; CRISIL CAMPUS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298448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EEF4FF"/>
                </a:solidFill>
                <a:latin typeface="Aptos"/>
              </a:rPr>
              <a:t>EventPulse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5029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4FF"/>
                </a:solidFill>
                <a:latin typeface="Aptos"/>
              </a:rPr>
              <a:t>From headlines to events
to impact to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73552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6B7CD"/>
                </a:solidFill>
                <a:latin typeface="Aptos"/>
              </a:rPr>
              <a:t>An AI financial-risk intelligence prototype that turns public news and filings into structured signals for portfolio rebalancing and scenario-based stress testing.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407408"/>
            <a:ext cx="1444752" cy="301752"/>
          </a:xfrm>
          <a:prstGeom prst="roundRect">
            <a:avLst>
              <a:gd name="adj" fmla="val 14000"/>
            </a:avLst>
          </a:prstGeom>
          <a:solidFill>
            <a:srgbClr val="12332F"/>
          </a:solidFill>
          <a:ln w="12700">
            <a:solidFill>
              <a:srgbClr val="237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4448556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EF4FF"/>
                </a:solidFill>
                <a:latin typeface="Aptos"/>
              </a:rPr>
              <a:t>PRETRAINED NLP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4407408"/>
            <a:ext cx="1408176" cy="301752"/>
          </a:xfrm>
          <a:prstGeom prst="roundRect">
            <a:avLst>
              <a:gd name="adj" fmla="val 14000"/>
            </a:avLst>
          </a:prstGeom>
          <a:solidFill>
            <a:srgbClr val="172A44"/>
          </a:solidFill>
          <a:ln w="12700">
            <a:solidFill>
              <a:srgbClr val="325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4448556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EF4FF"/>
                </a:solidFill>
                <a:latin typeface="Aptos"/>
              </a:rPr>
              <a:t>EVENT ROUTING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0752" y="4407408"/>
            <a:ext cx="1664208" cy="301752"/>
          </a:xfrm>
          <a:prstGeom prst="roundRect">
            <a:avLst>
              <a:gd name="adj" fmla="val 14000"/>
            </a:avLst>
          </a:prstGeom>
          <a:solidFill>
            <a:srgbClr val="282345"/>
          </a:solidFill>
          <a:ln w="12700">
            <a:solidFill>
              <a:srgbClr val="6C5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4448556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EF4FF"/>
                </a:solidFill>
                <a:latin typeface="Aptos"/>
              </a:rPr>
              <a:t>RISK SIMULATIONS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74920"/>
            <a:ext cx="4864608" cy="777240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Vansh Goyal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550408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B7CD"/>
                </a:solidFill>
                <a:latin typeface="Aptos"/>
              </a:rPr>
              <a:t>IIIT Delhi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53675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81 tests passed  |  2 downstream modules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1106424"/>
            <a:ext cx="5632704" cy="3730752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270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_crop_te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143000"/>
            <a:ext cx="5559552" cy="36576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90488" y="5084064"/>
            <a:ext cx="5138928" cy="768096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5257800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B9DE8"/>
                </a:solidFill>
                <a:latin typeface="Aptos"/>
              </a:rPr>
              <a:t>LIVE 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4864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EF4FF"/>
                </a:solidFill>
                <a:latin typeface="Aptos"/>
              </a:rPr>
              <a:t>GDELT + SEC EDGAR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65592" y="5230368"/>
            <a:ext cx="0" cy="457200"/>
          </a:xfrm>
          <a:prstGeom prst="line">
            <a:avLst/>
          </a:prstGeom>
          <a:ln w="1270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48472" y="525780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5C9A6"/>
                </a:solidFill>
                <a:latin typeface="Aptos"/>
              </a:rPr>
              <a:t>SYNTHETIC REPLAY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548640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EF4FF"/>
                </a:solidFill>
                <a:latin typeface="Aptos"/>
              </a:rPr>
              <a:t>Reproducible demo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EventPulse  |  Public-source ingestion; synthetic replay results are clearly labelled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PROBLEM &amp;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02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The gap is not sentiment - it is turning text into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Unstructured information becomes useful when events, entities, confidence and downstream rules share one contract.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691640"/>
            <a:ext cx="3127248" cy="1298448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691640"/>
            <a:ext cx="50292" cy="12984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1828800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B9DE8"/>
                </a:solidFill>
                <a:latin typeface="Aptos"/>
              </a:rPr>
              <a:t>01 / INPUT OVERLOAD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2084832"/>
            <a:ext cx="27980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4FF"/>
                </a:solidFill>
                <a:latin typeface="Aptos"/>
              </a:rPr>
              <a:t>News is unstructured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523744"/>
            <a:ext cx="2779776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B7CD"/>
                </a:solidFill>
                <a:latin typeface="Aptos"/>
              </a:rPr>
              <a:t>Different feeds use different schemas, timestamps and levels of detail.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36392"/>
            <a:ext cx="3127248" cy="1298448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136392"/>
            <a:ext cx="50292" cy="1298448"/>
          </a:xfrm>
          <a:prstGeom prst="rect">
            <a:avLst/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3273552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DA64F"/>
                </a:solidFill>
                <a:latin typeface="Aptos"/>
              </a:rPr>
              <a:t>02 / DUPLICATE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529584"/>
            <a:ext cx="27980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4FF"/>
                </a:solidFill>
                <a:latin typeface="Aptos"/>
              </a:rPr>
              <a:t>Same event, many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968496"/>
            <a:ext cx="2779776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B7CD"/>
                </a:solidFill>
                <a:latin typeface="Aptos"/>
              </a:rPr>
              <a:t>Counting repeated headlines as independent evidence can exaggerate a story.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81144"/>
            <a:ext cx="3127248" cy="1298448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581144"/>
            <a:ext cx="50292" cy="1298448"/>
          </a:xfrm>
          <a:prstGeom prst="rect">
            <a:avLst/>
          </a:prstGeom>
          <a:solidFill>
            <a:srgbClr val="FF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718304"/>
            <a:ext cx="2798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7676"/>
                </a:solidFill>
                <a:latin typeface="Aptos"/>
              </a:rPr>
              <a:t>03 / ACTION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974336"/>
            <a:ext cx="27980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4FF"/>
                </a:solidFill>
                <a:latin typeface="Aptos"/>
              </a:rPr>
              <a:t>Signals stop at a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5413248"/>
            <a:ext cx="2779776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B7CD"/>
                </a:solidFill>
                <a:latin typeface="Aptos"/>
              </a:rPr>
              <a:t>A sentiment label alone does not identify a holding or trigger a stress scenario.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41648" y="1700784"/>
            <a:ext cx="7424927" cy="4389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270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92024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EVENTPULSE APPROACH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2395728"/>
            <a:ext cx="6812280" cy="658368"/>
          </a:xfrm>
          <a:prstGeom prst="roundRect">
            <a:avLst>
              <a:gd name="adj" fmla="val 14000"/>
            </a:avLst>
          </a:prstGeom>
          <a:solidFill>
            <a:srgbClr val="17273C"/>
          </a:solidFill>
          <a:ln w="1016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60" y="2514600"/>
            <a:ext cx="402336" cy="402336"/>
          </a:xfrm>
          <a:prstGeom prst="roundRect">
            <a:avLst>
              <a:gd name="adj" fmla="val 14000"/>
            </a:avLst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2560320"/>
            <a:ext cx="40233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24963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B9DE8"/>
                </a:solidFill>
                <a:latin typeface="Aptos"/>
              </a:rPr>
              <a:t>INGEST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478024"/>
            <a:ext cx="42976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EF4FF"/>
                </a:solidFill>
                <a:latin typeface="Aptos"/>
              </a:rPr>
              <a:t>GDELT + SEC EDGAR
Optional Alpha Vantage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246120"/>
            <a:ext cx="6812280" cy="658368"/>
          </a:xfrm>
          <a:prstGeom prst="roundRect">
            <a:avLst>
              <a:gd name="adj" fmla="val 14000"/>
            </a:avLst>
          </a:prstGeom>
          <a:solidFill>
            <a:srgbClr val="17273C"/>
          </a:solidFill>
          <a:ln w="1016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480560" y="3364991"/>
            <a:ext cx="402336" cy="402336"/>
          </a:xfrm>
          <a:prstGeom prst="roundRect">
            <a:avLst>
              <a:gd name="adj" fmla="val 14000"/>
            </a:avLst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3410712"/>
            <a:ext cx="40233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334670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UNDERSTAND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328415"/>
            <a:ext cx="42976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EF4FF"/>
                </a:solidFill>
                <a:latin typeface="Aptos"/>
              </a:rPr>
              <a:t>FinBERT + NER + event router
Embeddings + semantic clusters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096512"/>
            <a:ext cx="6812280" cy="658368"/>
          </a:xfrm>
          <a:prstGeom prst="roundRect">
            <a:avLst>
              <a:gd name="adj" fmla="val 14000"/>
            </a:avLst>
          </a:prstGeom>
          <a:solidFill>
            <a:srgbClr val="17273C"/>
          </a:solidFill>
          <a:ln w="1016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0560" y="4215384"/>
            <a:ext cx="402336" cy="402336"/>
          </a:xfrm>
          <a:prstGeom prst="roundRect">
            <a:avLst>
              <a:gd name="adj" fmla="val 14000"/>
            </a:avLst>
          </a:prstGeom>
          <a:solidFill>
            <a:srgbClr val="A49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42611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41970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493F5"/>
                </a:solidFill>
                <a:latin typeface="Aptos"/>
              </a:rPr>
              <a:t>STRUCTURE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178808"/>
            <a:ext cx="42976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EF4FF"/>
                </a:solidFill>
                <a:latin typeface="Aptos"/>
              </a:rPr>
              <a:t>Canonical FinancialEvent
Provenance + confidence + impact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946904"/>
            <a:ext cx="6812280" cy="658368"/>
          </a:xfrm>
          <a:prstGeom prst="roundRect">
            <a:avLst>
              <a:gd name="adj" fmla="val 14000"/>
            </a:avLst>
          </a:prstGeom>
          <a:solidFill>
            <a:srgbClr val="17273C"/>
          </a:solidFill>
          <a:ln w="1016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0560" y="5065776"/>
            <a:ext cx="402336" cy="402336"/>
          </a:xfrm>
          <a:prstGeom prst="roundRect">
            <a:avLst>
              <a:gd name="adj" fmla="val 14000"/>
            </a:avLst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0" y="5111496"/>
            <a:ext cx="40233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504748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DA64F"/>
                </a:solidFill>
                <a:latin typeface="Aptos"/>
              </a:rPr>
              <a:t>SIMULATE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029200"/>
            <a:ext cx="42976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EF4FF"/>
                </a:solidFill>
                <a:latin typeface="Aptos"/>
              </a:rPr>
              <a:t>Module A: weights
Module B: stress scenarios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S&amp;P Global &amp; Crisil Campus Hackathon 2026  |  Synthetic demo results are simulations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SYSTEM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03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One event contract powers both risk modules.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Sources -&gt; NLP -&gt; structured signals -&gt; two constrained simulations. Historical impact training is optional, not active.</a:t>
            </a:r>
          </a:p>
        </p:txBody>
      </p:sp>
      <p:pic>
        <p:nvPicPr>
          <p:cNvPr id="13" name="Picture 1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507" y="1664208"/>
            <a:ext cx="10012680" cy="4711849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Full Mermaid source: architecture.md  |  Image: docs/architecture.png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IMPLEMENTATION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04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Specialized models. Explicit routing. Interpretable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Each component has one role; downstream decisions remain inspectable.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536192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6B7CD"/>
                </a:solidFill>
                <a:latin typeface="Aptos"/>
              </a:rPr>
              <a:t>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1536192"/>
            <a:ext cx="29718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6B7CD"/>
                </a:solidFill>
                <a:latin typeface="Aptos"/>
              </a:rPr>
              <a:t>WHAT IT DOES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1536192"/>
            <a:ext cx="5074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6B7CD"/>
                </a:solidFill>
                <a:latin typeface="Aptos"/>
              </a:rPr>
              <a:t>WHY IT FITS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810512"/>
            <a:ext cx="10927080" cy="640080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762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1810512"/>
            <a:ext cx="45720" cy="640080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1920240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FinBERT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176272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5C9A6"/>
                </a:solidFill>
                <a:latin typeface="Aptos"/>
              </a:rPr>
              <a:t>ProsusAI/finbert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1901952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Financial sentiment
Signed score in [-1, 1]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190195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B7CD"/>
                </a:solidFill>
                <a:latin typeface="Aptos"/>
              </a:rPr>
              <a:t>Financial-domain language rather than generic sentiment.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478024"/>
            <a:ext cx="10927080" cy="64008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762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2478024"/>
            <a:ext cx="45720" cy="640080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2587752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Financial 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" y="2843784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9DE8"/>
                </a:solidFill>
                <a:latin typeface="Aptos"/>
              </a:rPr>
              <a:t>whataboutyou-ai/financial_bert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2569464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Entity mentions
Organization / person / location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5694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B7CD"/>
                </a:solidFill>
                <a:latin typeface="Aptos"/>
              </a:rPr>
              <a:t>Helps connect company names to ticker-resolution logic.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145536"/>
            <a:ext cx="10927080" cy="640080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762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145536"/>
            <a:ext cx="45720" cy="640080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3255264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Finance-topic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" y="3511296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5C9A6"/>
                </a:solidFill>
                <a:latin typeface="Aptos"/>
              </a:rPr>
              <a:t>leonas5555/finnews-topic-single-classify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7248" y="3236976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Pretrained financial topic
Mapped to EventPulse labels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3236976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B7CD"/>
                </a:solidFill>
                <a:latin typeface="Aptos"/>
              </a:rPr>
              <a:t>Provides a domain-specific first classification signal.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3813048"/>
            <a:ext cx="10927080" cy="64008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762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3813048"/>
            <a:ext cx="45720" cy="640080"/>
          </a:xfrm>
          <a:prstGeom prst="rect">
            <a:avLst/>
          </a:prstGeom>
          <a:solidFill>
            <a:srgbClr val="A49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" y="3922776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Zero-shot + router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78808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493F5"/>
                </a:solidFill>
                <a:latin typeface="Aptos"/>
              </a:rPr>
              <a:t>ModernBERT-base-zeroshot-v2.0
+ EventClassifierRouter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27248" y="3904487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Compares candidate event labels
Router considers agreement and score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3904487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B7CD"/>
                </a:solidFill>
                <a:latin typeface="Aptos"/>
              </a:rPr>
              <a:t>Adds task-specific label descriptions without training a new classifier.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480560"/>
            <a:ext cx="10927080" cy="640080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762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4480560"/>
            <a:ext cx="45720" cy="640080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59028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BGE embeddings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846320"/>
            <a:ext cx="2212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9DE8"/>
                </a:solidFill>
                <a:latin typeface="Aptos"/>
              </a:rPr>
              <a:t>BAAI/bge-small-en-v1.5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27248" y="4572000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Normalized text vectors
Cosine similarity + time/ticker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45720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B7CD"/>
                </a:solidFill>
                <a:latin typeface="Aptos"/>
              </a:rPr>
              <a:t>Groups semantically related reports; embeddings alone do not prove same event.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285232"/>
            <a:ext cx="10927080" cy="749808"/>
          </a:xfrm>
          <a:prstGeom prst="roundRect">
            <a:avLst>
              <a:gd name="adj" fmla="val 14000"/>
            </a:avLst>
          </a:prstGeom>
          <a:solidFill>
            <a:srgbClr val="352819"/>
          </a:solidFill>
          <a:ln w="12700">
            <a:solidFill>
              <a:srgbClr val="DDA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44982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DA64F"/>
                </a:solidFill>
                <a:latin typeface="Aptos"/>
              </a:rPr>
              <a:t>IMPACT SCORE  |  ACTIVE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5431536"/>
            <a:ext cx="8092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EF4FF"/>
                </a:solidFill>
                <a:latin typeface="Aptos"/>
              </a:rPr>
              <a:t>Severity + sentiment strength + breadth + confidence + novelty -&gt; heuristic score 1-10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5705856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ACDA4"/>
                </a:solidFill>
                <a:latin typeface="Aptos"/>
              </a:rPr>
              <a:t>No accepted historical impact-model artifact is included; the 1-10 score is not a calibrated probability or return forecast.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S&amp;P Global &amp; Crisil Campus Hackathon 2026  |  Synthetic demo results are simulations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EXAMPLE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05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One synthetic credit event, two downstream workflows.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Example trace uses the synthetic MetroCredit downgrade fixture; values shown are the observed demo outputs.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627632"/>
            <a:ext cx="10881360" cy="69494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" y="1819656"/>
            <a:ext cx="1389888" cy="301752"/>
          </a:xfrm>
          <a:prstGeom prst="roundRect">
            <a:avLst>
              <a:gd name="adj" fmla="val 14000"/>
            </a:avLst>
          </a:prstGeom>
          <a:solidFill>
            <a:srgbClr val="352819"/>
          </a:solidFill>
          <a:ln w="12700">
            <a:solidFill>
              <a:srgbClr val="DDA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1860804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EF4FF"/>
                </a:solidFill>
                <a:latin typeface="Aptos"/>
              </a:rPr>
              <a:t>SYNTHETIC 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1783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4FF"/>
                </a:solidFill>
                <a:latin typeface="Aptos"/>
              </a:rPr>
              <a:t>“Ratings Agency Downgrades MetroCredit”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182880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6B7CD"/>
                </a:solidFill>
                <a:latin typeface="Aptos"/>
              </a:rPr>
              <a:t>Source: Synthetic Credit Monitor  |  Ticker alias: MCRD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651760"/>
            <a:ext cx="1901952" cy="960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77977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9DE8"/>
                </a:solidFill>
                <a:latin typeface="Aptos"/>
              </a:rPr>
              <a:t>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2999232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MCRD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319272"/>
            <a:ext cx="1664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Resolved ticker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2651760"/>
            <a:ext cx="1901952" cy="960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77977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493F5"/>
                </a:solidFill>
                <a:latin typeface="Aptos"/>
              </a:rPr>
              <a:t>EVENT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2999232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Credit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3319272"/>
            <a:ext cx="1664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Router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10912" y="2651760"/>
            <a:ext cx="1901952" cy="960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072" y="277977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7676"/>
                </a:solidFill>
                <a:latin typeface="Aptos"/>
              </a:rPr>
              <a:t>SENTIMENT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999232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-0.958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319272"/>
            <a:ext cx="1664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Negative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87184" y="2651760"/>
            <a:ext cx="1901952" cy="960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277977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DA64F"/>
                </a:solidFill>
                <a:latin typeface="Aptos"/>
              </a:rPr>
              <a:t>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2999232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8.86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6912" y="3319272"/>
            <a:ext cx="1664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Heuristic estimate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63456" y="2651760"/>
            <a:ext cx="1901952" cy="960120"/>
          </a:xfrm>
          <a:prstGeom prst="roundRect">
            <a:avLst>
              <a:gd name="adj" fmla="val 14000"/>
            </a:avLst>
          </a:prstGeom>
          <a:solidFill>
            <a:srgbClr val="101C2E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0616" y="277977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5C9A6"/>
                </a:solidFill>
                <a:latin typeface="Aptos"/>
              </a:rPr>
              <a:t>CLUSTER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73184" y="2999232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FF"/>
                </a:solidFill>
                <a:latin typeface="Aptos"/>
              </a:rPr>
              <a:t>Related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3319272"/>
            <a:ext cx="1664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Same event group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578608" y="3127248"/>
            <a:ext cx="219455" cy="0"/>
          </a:xfrm>
          <a:prstGeom prst="line">
            <a:avLst/>
          </a:prstGeom>
          <a:ln w="2667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754880" y="3127248"/>
            <a:ext cx="219456" cy="0"/>
          </a:xfrm>
          <a:prstGeom prst="line">
            <a:avLst/>
          </a:prstGeom>
          <a:ln w="2667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31152" y="3127248"/>
            <a:ext cx="219456" cy="0"/>
          </a:xfrm>
          <a:prstGeom prst="line">
            <a:avLst/>
          </a:prstGeom>
          <a:ln w="2667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07424" y="3127248"/>
            <a:ext cx="219456" cy="0"/>
          </a:xfrm>
          <a:prstGeom prst="line">
            <a:avLst/>
          </a:prstGeom>
          <a:ln w="2667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089904" y="3630168"/>
            <a:ext cx="0" cy="256032"/>
          </a:xfrm>
          <a:prstGeom prst="line">
            <a:avLst/>
          </a:prstGeom>
          <a:ln w="2286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90672" y="3886200"/>
            <a:ext cx="5897880" cy="0"/>
          </a:xfrm>
          <a:prstGeom prst="line">
            <a:avLst/>
          </a:prstGeom>
          <a:ln w="2286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90672" y="3886200"/>
            <a:ext cx="0" cy="228600"/>
          </a:xfrm>
          <a:prstGeom prst="line">
            <a:avLst/>
          </a:prstGeom>
          <a:ln w="2286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988552" y="3886200"/>
            <a:ext cx="0" cy="228600"/>
          </a:xfrm>
          <a:prstGeom prst="line">
            <a:avLst/>
          </a:prstGeom>
          <a:ln w="22860">
            <a:solidFill>
              <a:srgbClr val="35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8368" y="4160520"/>
            <a:ext cx="5276088" cy="1353312"/>
          </a:xfrm>
          <a:prstGeom prst="roundRect">
            <a:avLst>
              <a:gd name="adj" fmla="val 14000"/>
            </a:avLst>
          </a:prstGeom>
          <a:solidFill>
            <a:srgbClr val="142A35"/>
          </a:solidFill>
          <a:ln w="15240">
            <a:solidFill>
              <a:srgbClr val="35C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" y="434340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5C9A6"/>
                </a:solidFill>
                <a:latin typeface="Aptos"/>
              </a:rPr>
              <a:t>MODULE A  /  MOCK-INDEX REBALANCER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4645152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4FF"/>
                </a:solidFill>
                <a:latin typeface="Aptos"/>
              </a:rPr>
              <a:t>Negative MCRD signal lowers its relative target weight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" y="5074920"/>
            <a:ext cx="47091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6B7CD"/>
                </a:solidFill>
                <a:latin typeface="Aptos"/>
              </a:rPr>
              <a:t>Across the full synthetic replay: 5 matched events; 9.15% one-way turnover (cap: 10%).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99632" y="4160520"/>
            <a:ext cx="5340096" cy="1353312"/>
          </a:xfrm>
          <a:prstGeom prst="roundRect">
            <a:avLst>
              <a:gd name="adj" fmla="val 14000"/>
            </a:avLst>
          </a:prstGeom>
          <a:solidFill>
            <a:srgbClr val="2C233B"/>
          </a:solidFill>
          <a:ln w="15240">
            <a:solidFill>
              <a:srgbClr val="A49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4343400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493F5"/>
                </a:solidFill>
                <a:latin typeface="Aptos"/>
              </a:rPr>
              <a:t>MODULE B  /  CREDIT STRESS SCENARIO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4645152"/>
            <a:ext cx="47548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4FF"/>
                </a:solidFill>
                <a:latin typeface="Aptos"/>
              </a:rPr>
              <a:t>Impact 8.86 &gt;= configured threshold 8.0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19088" y="5074920"/>
            <a:ext cx="480060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6B7CD"/>
                </a:solidFill>
                <a:latin typeface="Aptos"/>
              </a:rPr>
              <a:t>1.000B -&gt; 929.056M portfolio units; 70.944M simulated loss (7.09%).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5687568"/>
            <a:ext cx="10881360" cy="438912"/>
          </a:xfrm>
          <a:prstGeom prst="roundRect">
            <a:avLst>
              <a:gd name="adj" fmla="val 14000"/>
            </a:avLst>
          </a:prstGeom>
          <a:solidFill>
            <a:srgbClr val="111D2D"/>
          </a:solidFill>
          <a:ln w="1016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" y="580644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6B7CD"/>
                </a:solidFill>
                <a:latin typeface="Aptos"/>
              </a:rPr>
              <a:t>Synthetic replay only. Currency is not specified in the banking fixture; these are generic portfolio units, not USD claims or forecasts.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S&amp;P Global &amp; Crisil Campus Hackathon 2026  |  Synthetic demo results are simulations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KEY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06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Measured outputs across both risk modules.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Synthetic replay metrics and software checks - not accuracy or investment-performance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572768"/>
            <a:ext cx="2103120" cy="78638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700784"/>
            <a:ext cx="184708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B9DE8"/>
                </a:solidFill>
                <a:latin typeface="Aptos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103120"/>
            <a:ext cx="18470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synthetic articles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71215" y="1572768"/>
            <a:ext cx="2103120" cy="78638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1700784"/>
            <a:ext cx="184708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5C9A6"/>
                </a:solidFill>
                <a:latin typeface="Aptos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2103120"/>
            <a:ext cx="18470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structured events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572768"/>
            <a:ext cx="2103120" cy="78638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0368" y="1700784"/>
            <a:ext cx="184708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493F5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103120"/>
            <a:ext cx="18470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Module A events used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3488" y="1572768"/>
            <a:ext cx="2103120" cy="78638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1700784"/>
            <a:ext cx="184708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DA64F"/>
                </a:solidFill>
                <a:latin typeface="Aptos"/>
              </a:rPr>
              <a:t>9.15%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2103120"/>
            <a:ext cx="18470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one-way turnover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4624" y="1572768"/>
            <a:ext cx="2103120" cy="786384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1700784"/>
            <a:ext cx="184708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7676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103120"/>
            <a:ext cx="184708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6B7CD"/>
                </a:solidFill>
                <a:latin typeface="Aptos"/>
              </a:rPr>
              <a:t>stress scenarios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2642616"/>
            <a:ext cx="5349240" cy="2779776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270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_crop_te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79192"/>
            <a:ext cx="5276088" cy="2706624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199632" y="2642616"/>
            <a:ext cx="5349240" cy="2779776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270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_crop_tem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679192"/>
            <a:ext cx="5276088" cy="27066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04088" y="546811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MODULE A  |  Before/after weights, with 10% turnover guardrail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546811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493F5"/>
                </a:solidFill>
                <a:latin typeface="Aptos"/>
              </a:rPr>
              <a:t>MODULE B  |  Portfolio before/after and position-level stress attribution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15584"/>
            <a:ext cx="10881360" cy="393192"/>
          </a:xfrm>
          <a:prstGeom prst="roundRect">
            <a:avLst>
              <a:gd name="adj" fmla="val 14000"/>
            </a:avLst>
          </a:prstGeom>
          <a:solidFill>
            <a:srgbClr val="352819"/>
          </a:solidFill>
          <a:ln w="10160">
            <a:solidFill>
              <a:srgbClr val="DDA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5916168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1D5A7"/>
                </a:solidFill>
                <a:latin typeface="Aptos"/>
              </a:rPr>
              <a:t>81 tests passed (1 dependency deprecation warning). Observed live smoke: SEC 10 articles; GDELT rate-limited with HTTP 429.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S&amp;P Global &amp; Crisil Campus Hackathon 2026  |  Synthetic demo results are simulations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70915"/>
            <a:ext cx="50292" cy="128016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406907"/>
            <a:ext cx="50292" cy="256032"/>
          </a:xfrm>
          <a:prstGeom prst="rect">
            <a:avLst/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342900"/>
            <a:ext cx="50292" cy="38404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4340"/>
            <a:ext cx="50292" cy="201168"/>
          </a:xfrm>
          <a:prstGeom prst="rect">
            <a:avLst/>
          </a:prstGeom>
          <a:solidFill>
            <a:srgbClr val="5B9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25603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5C9A6"/>
                </a:solidFill>
                <a:latin typeface="Aptos"/>
              </a:rPr>
              <a:t>EVENTPULSE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560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DOMAIN IMPACT &amp; 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256032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6B7CD"/>
                </a:solidFill>
                <a:latin typeface="Aptos"/>
              </a:rPr>
              <a:t>07 /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" y="612648"/>
            <a:ext cx="11128248" cy="0"/>
          </a:xfrm>
          <a:prstGeom prst="line">
            <a:avLst/>
          </a:prstGeom>
          <a:ln w="1143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786384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4FF"/>
                </a:solidFill>
                <a:latin typeface="Aptos"/>
              </a:rPr>
              <a:t>Useful risk workflow prototype - with explicit boundaries.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298448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6B7CD"/>
                </a:solidFill>
                <a:latin typeface="Aptos"/>
              </a:rPr>
              <a:t>The next step is evaluation and delivery discipline, not overstating predictive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627632"/>
            <a:ext cx="5212080" cy="3154680"/>
          </a:xfrm>
          <a:prstGeom prst="roundRect">
            <a:avLst>
              <a:gd name="adj" fmla="val 14000"/>
            </a:avLst>
          </a:prstGeom>
          <a:solidFill>
            <a:srgbClr val="12332F"/>
          </a:solidFill>
          <a:ln w="15240">
            <a:solidFill>
              <a:srgbClr val="237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1847088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5C9A6"/>
                </a:solidFill>
                <a:latin typeface="Aptos"/>
              </a:rPr>
              <a:t>WHAT IT DEMONSTRATES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22402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0428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2231136"/>
            <a:ext cx="3886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4FF"/>
                </a:solidFill>
                <a:latin typeface="Aptos"/>
              </a:rPr>
              <a:t>Event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496312"/>
            <a:ext cx="3931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2D7E6"/>
                </a:solidFill>
                <a:latin typeface="Aptos"/>
              </a:rPr>
              <a:t>Structured categories, sentiment, tickers and source provenance.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" y="2990088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054096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2980944"/>
            <a:ext cx="3886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4FF"/>
                </a:solidFill>
                <a:latin typeface="Aptos"/>
              </a:rPr>
              <a:t>Duplicate awareness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246120"/>
            <a:ext cx="3931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2D7E6"/>
                </a:solidFill>
                <a:latin typeface="Aptos"/>
              </a:rPr>
              <a:t>Semantic clusters and point-in-time novelty/corroboration.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" y="3739896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35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3803904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120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3730752"/>
            <a:ext cx="3886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4FF"/>
                </a:solidFill>
                <a:latin typeface="Aptos"/>
              </a:rPr>
              <a:t>Actionable simulations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995928"/>
            <a:ext cx="3931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2D7E6"/>
                </a:solidFill>
                <a:latin typeface="Aptos"/>
              </a:rPr>
              <a:t>Constrained index weights plus scenario-based banking losses.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1627632"/>
            <a:ext cx="5394960" cy="3154680"/>
          </a:xfrm>
          <a:prstGeom prst="roundRect">
            <a:avLst>
              <a:gd name="adj" fmla="val 14000"/>
            </a:avLst>
          </a:prstGeom>
          <a:solidFill>
            <a:srgbClr val="2B201B"/>
          </a:solidFill>
          <a:ln w="15240">
            <a:solidFill>
              <a:srgbClr val="8B5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184708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DA64F"/>
                </a:solidFill>
                <a:latin typeface="Aptos"/>
              </a:rPr>
              <a:t>WHAT IT DOES NOT CLAIM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276856"/>
            <a:ext cx="109728" cy="109728"/>
          </a:xfrm>
          <a:prstGeom prst="roundRect">
            <a:avLst>
              <a:gd name="adj" fmla="val 14000"/>
            </a:avLst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8544" y="2221992"/>
            <a:ext cx="4544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Impact score is a heuristic, not a calibrated probability or price forecast.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843784"/>
            <a:ext cx="109728" cy="109728"/>
          </a:xfrm>
          <a:prstGeom prst="roundRect">
            <a:avLst>
              <a:gd name="adj" fmla="val 14000"/>
            </a:avLst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38544" y="2788920"/>
            <a:ext cx="4544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No independent real-headline precision/recall/F1 or economic backtest is reported.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410712"/>
            <a:ext cx="109728" cy="109728"/>
          </a:xfrm>
          <a:prstGeom prst="roundRect">
            <a:avLst>
              <a:gd name="adj" fmla="val 14000"/>
            </a:avLst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38544" y="3355848"/>
            <a:ext cx="4544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Bank portfolio and replay headlines are synthetic; currency is unspecified.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977639"/>
            <a:ext cx="109728" cy="109728"/>
          </a:xfrm>
          <a:prstGeom prst="roundRect">
            <a:avLst>
              <a:gd name="adj" fmla="val 14000"/>
            </a:avLst>
          </a:prstGeom>
          <a:solidFill>
            <a:srgbClr val="DDA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8544" y="3922776"/>
            <a:ext cx="45445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EF4FF"/>
                </a:solidFill>
                <a:latin typeface="Aptos"/>
              </a:rPr>
              <a:t>GDELT can rate-limit; live downstream actions depend on eligible tickers and thresholds.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047488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142238"/>
          </a:solidFill>
          <a:ln w="11430">
            <a:solidFill>
              <a:srgbClr val="2A3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257800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B9DE8"/>
                </a:solidFill>
                <a:latin typeface="Aptos"/>
              </a:rPr>
              <a:t>NEXT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522122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5477256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6B7CD"/>
                </a:solidFill>
                <a:latin typeface="Aptos"/>
              </a:rPr>
              <a:t>Label real headlines; report precision / recall / F1.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2122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Validate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477256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6B7CD"/>
                </a:solidFill>
                <a:latin typeface="Aptos"/>
              </a:rPr>
              <a:t>Train only if historical impact model beats baseline.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22122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4FF"/>
                </a:solidFill>
                <a:latin typeface="Aptos"/>
              </a:rPr>
              <a:t>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5477256"/>
            <a:ext cx="26334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6B7CD"/>
                </a:solidFill>
                <a:latin typeface="Aptos"/>
              </a:rPr>
              <a:t>Record 10-minute walkthrough; add public unlisted link.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0352" y="6528816"/>
            <a:ext cx="11128248" cy="0"/>
          </a:xfrm>
          <a:prstGeom prst="line">
            <a:avLst/>
          </a:prstGeom>
          <a:ln w="8890">
            <a:solidFill>
              <a:srgbClr val="2A3D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658368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6B7CD"/>
                </a:solidFill>
                <a:latin typeface="Aptos"/>
              </a:rPr>
              <a:t>EventPulse  |  Synthetic demo is reproducible; live-source results are reported separately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92840" y="6583680"/>
            <a:ext cx="292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6B7CD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EventPulse - S&amp;P Global &amp; Crisil Campus Hackathon 2026</dc:title>
  <dc:subject>AI financial risk intelligence prototype</dc:subject>
  <dc:creator>Vansh Goyal</dc:creator>
  <cp:keywords>EventPulse, financial news, risk intelligence, synthetic stress testing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