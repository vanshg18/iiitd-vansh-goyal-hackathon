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70915"/>
            <a:ext cx="50292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6907"/>
            <a:ext cx="50292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2900"/>
            <a:ext cx="50292" cy="3840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34340"/>
            <a:ext cx="50292" cy="20116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804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5C9A6"/>
                </a:solidFill>
                <a:latin typeface="Aptos"/>
              </a:rPr>
              <a:t>S&amp;P GLOBAL &amp; CRISIL CAMPUS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5120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EF4FF"/>
                </a:solidFill>
                <a:latin typeface="Aptos"/>
              </a:rPr>
              <a:t>EventPulse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84831"/>
            <a:ext cx="50292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EF4FF"/>
                </a:solidFill>
                <a:latin typeface="Aptos"/>
              </a:rPr>
              <a:t>From headlines to events
to impact to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73552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6B7CD"/>
                </a:solidFill>
                <a:latin typeface="Aptos"/>
              </a:rPr>
              <a:t>An AI financial-risk intelligence prototype that turns public news and filings into structured signals for portfolio rebalancing and scenario-based stress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07408"/>
            <a:ext cx="1444752" cy="301752"/>
          </a:xfrm>
          <a:prstGeom prst="roundRect">
            <a:avLst>
              <a:gd name="adj" fmla="val 14000"/>
            </a:avLst>
          </a:prstGeom>
          <a:solidFill>
            <a:srgbClr val="12332F"/>
          </a:solidFill>
          <a:ln w="12700">
            <a:solidFill>
              <a:srgbClr val="237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" y="4448556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EF4FF"/>
                </a:solidFill>
                <a:latin typeface="Aptos"/>
              </a:rPr>
              <a:t>PRETRAINED NLP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4407408"/>
            <a:ext cx="1408176" cy="301752"/>
          </a:xfrm>
          <a:prstGeom prst="roundRect">
            <a:avLst>
              <a:gd name="adj" fmla="val 14000"/>
            </a:avLst>
          </a:prstGeom>
          <a:solidFill>
            <a:srgbClr val="172A44"/>
          </a:solidFill>
          <a:ln w="12700">
            <a:solidFill>
              <a:srgbClr val="32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4448556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EF4FF"/>
                </a:solidFill>
                <a:latin typeface="Aptos"/>
              </a:rPr>
              <a:t>EVENT ROUTING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0752" y="4407408"/>
            <a:ext cx="1664208" cy="301752"/>
          </a:xfrm>
          <a:prstGeom prst="roundRect">
            <a:avLst>
              <a:gd name="adj" fmla="val 14000"/>
            </a:avLst>
          </a:prstGeom>
          <a:solidFill>
            <a:srgbClr val="282345"/>
          </a:solidFill>
          <a:ln w="12700">
            <a:solidFill>
              <a:srgbClr val="6C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444855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EF4FF"/>
                </a:solidFill>
                <a:latin typeface="Aptos"/>
              </a:rPr>
              <a:t>RISK SIMULATIONS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74920"/>
            <a:ext cx="4864608" cy="777240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2578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EF4FF"/>
                </a:solidFill>
                <a:latin typeface="Aptos"/>
              </a:rPr>
              <a:t>Vansh Goyal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5504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D"/>
                </a:solidFill>
                <a:latin typeface="Aptos"/>
              </a:rPr>
              <a:t>IIIT Delhi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5367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5C9A6"/>
                </a:solidFill>
                <a:latin typeface="Aptos"/>
              </a:rPr>
              <a:t>89 tests passed  |  2 downstream modules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1106424"/>
            <a:ext cx="5632704" cy="3730752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0488" y="5084064"/>
            <a:ext cx="5138928" cy="768096"/>
          </a:xfrm>
          <a:prstGeom prst="roundRect">
            <a:avLst>
              <a:gd name="adj" fmla="val 14000"/>
            </a:avLst>
          </a:prstGeom>
          <a:solidFill>
            <a:srgbClr val="101C2E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25780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9DE8"/>
                </a:solidFill>
                <a:latin typeface="Aptos"/>
              </a:rPr>
              <a:t>LIVE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4864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4FF"/>
                </a:solidFill>
                <a:latin typeface="Aptos"/>
              </a:rPr>
              <a:t>GDELT + SEC EDGAR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65592" y="5230368"/>
            <a:ext cx="0" cy="457200"/>
          </a:xfrm>
          <a:prstGeom prst="line">
            <a:avLst/>
          </a:prstGeom>
          <a:ln w="1270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48472" y="525780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5C9A6"/>
                </a:solidFill>
                <a:latin typeface="Aptos"/>
              </a:rPr>
              <a:t>SYNTHETIC REPLAY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548640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4FF"/>
                </a:solidFill>
                <a:latin typeface="Aptos"/>
              </a:rPr>
              <a:t>Reproducible demo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889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8368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D"/>
                </a:solidFill>
                <a:latin typeface="Aptos"/>
              </a:rPr>
              <a:t>EventPulse  |  Public-source ingestion; synthetic replay results are clearly labelled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836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7CD"/>
                </a:solidFill>
                <a:latin typeface="Aptos"/>
              </a:rPr>
              <a:t>1</a:t>
            </a:r>
          </a:p>
        </p:txBody>
      </p:sp>
      <p:pic>
        <p:nvPicPr>
          <p:cNvPr id="32" name="Picture 31" descr="overview_cover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143000"/>
            <a:ext cx="555955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70915"/>
            <a:ext cx="50292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6907"/>
            <a:ext cx="50292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2900"/>
            <a:ext cx="50292" cy="3840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34340"/>
            <a:ext cx="50292" cy="20116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5603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PROBLEM &amp;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772668"/>
            <a:ext cx="11128248" cy="0"/>
          </a:xfrm>
          <a:prstGeom prst="line">
            <a:avLst/>
          </a:prstGeom>
          <a:ln w="1143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78638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EF4FF"/>
                </a:solidFill>
                <a:latin typeface="Aptos"/>
              </a:rPr>
              <a:t>The gap is not sentiment - it is turning text into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9844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7CD"/>
                </a:solidFill>
                <a:latin typeface="Aptos"/>
              </a:rPr>
              <a:t>Unstructured information becomes useful when events, entities, confidence and downstream rules share one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691640"/>
            <a:ext cx="3127248" cy="1298448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50292" cy="12984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1828800"/>
            <a:ext cx="2798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9DE8"/>
                </a:solidFill>
                <a:latin typeface="Aptos"/>
              </a:rPr>
              <a:t>01 / INPUT 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084832"/>
            <a:ext cx="279806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4FF"/>
                </a:solidFill>
                <a:latin typeface="Aptos"/>
              </a:rPr>
              <a:t>News is unstructured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523744"/>
            <a:ext cx="277977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D"/>
                </a:solidFill>
                <a:latin typeface="Aptos"/>
              </a:rPr>
              <a:t>Different feeds use different schemas, timestamps and levels of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36392"/>
            <a:ext cx="3127248" cy="1298448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136392"/>
            <a:ext cx="50292" cy="1298448"/>
          </a:xfrm>
          <a:prstGeom prst="rect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273552"/>
            <a:ext cx="2798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DA64F"/>
                </a:solidFill>
                <a:latin typeface="Aptos"/>
              </a:rPr>
              <a:t>02 / DUPLICATE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529584"/>
            <a:ext cx="279806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4FF"/>
                </a:solidFill>
                <a:latin typeface="Aptos"/>
              </a:rPr>
              <a:t>Same event, many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968496"/>
            <a:ext cx="277977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D"/>
                </a:solidFill>
                <a:latin typeface="Aptos"/>
              </a:rPr>
              <a:t>Counting repeated headlines as independent evidence can exaggerate a 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81144"/>
            <a:ext cx="3127248" cy="1298448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581144"/>
            <a:ext cx="50292" cy="1298448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718304"/>
            <a:ext cx="2798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676"/>
                </a:solidFill>
                <a:latin typeface="Aptos"/>
              </a:rPr>
              <a:t>03 / ACTION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974336"/>
            <a:ext cx="279806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EF4FF"/>
                </a:solidFill>
                <a:latin typeface="Aptos"/>
              </a:rPr>
              <a:t>Signals stop at a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413248"/>
            <a:ext cx="2779776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D"/>
                </a:solidFill>
                <a:latin typeface="Aptos"/>
              </a:rPr>
              <a:t>A sentiment label alone does not identify a holding or trigger a stress scenario.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1648" y="1700784"/>
            <a:ext cx="7424927" cy="4389120"/>
          </a:xfrm>
          <a:prstGeom prst="roundRect">
            <a:avLst>
              <a:gd name="adj" fmla="val 14000"/>
            </a:avLst>
          </a:prstGeom>
          <a:solidFill>
            <a:srgbClr val="101C2E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15968" y="192024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5C9A6"/>
                </a:solidFill>
                <a:latin typeface="Aptos"/>
              </a:rPr>
              <a:t>EVENTPULSE APPROACH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395728"/>
            <a:ext cx="6812280" cy="658368"/>
          </a:xfrm>
          <a:prstGeom prst="roundRect">
            <a:avLst>
              <a:gd name="adj" fmla="val 14000"/>
            </a:avLst>
          </a:prstGeom>
          <a:solidFill>
            <a:srgbClr val="17273C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80560" y="2514600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2560320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120"/>
                </a:solidFill>
                <a:latin typeface="Apto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496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9DE8"/>
                </a:solidFill>
                <a:latin typeface="Aptos"/>
              </a:rPr>
              <a:t>INGEST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478024"/>
            <a:ext cx="42976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EF4FF"/>
                </a:solidFill>
                <a:latin typeface="Aptos"/>
              </a:rPr>
              <a:t>GDELT + SEC EDGAR
Optional Alpha Vantage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246120"/>
            <a:ext cx="6812280" cy="658368"/>
          </a:xfrm>
          <a:prstGeom prst="roundRect">
            <a:avLst>
              <a:gd name="adj" fmla="val 14000"/>
            </a:avLst>
          </a:prstGeom>
          <a:solidFill>
            <a:srgbClr val="17273C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80560" y="3364991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41071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120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346703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5C9A6"/>
                </a:solidFill>
                <a:latin typeface="Aptos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328415"/>
            <a:ext cx="42976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EF4FF"/>
                </a:solidFill>
                <a:latin typeface="Aptos"/>
              </a:rPr>
              <a:t>FinBERT + NER + event router
Embeddings + semantic clusters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096512"/>
            <a:ext cx="6812280" cy="658368"/>
          </a:xfrm>
          <a:prstGeom prst="roundRect">
            <a:avLst>
              <a:gd name="adj" fmla="val 14000"/>
            </a:avLst>
          </a:prstGeom>
          <a:solidFill>
            <a:srgbClr val="17273C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480560" y="421538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A49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80560" y="4261104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120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1970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493F5"/>
                </a:solidFill>
                <a:latin typeface="Aptos"/>
              </a:rPr>
              <a:t>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178808"/>
            <a:ext cx="42976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EF4FF"/>
                </a:solidFill>
                <a:latin typeface="Aptos"/>
              </a:rPr>
              <a:t>Canonical FinancialEvent
Provenance + confidence + impact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946904"/>
            <a:ext cx="6812280" cy="658368"/>
          </a:xfrm>
          <a:prstGeom prst="roundRect">
            <a:avLst>
              <a:gd name="adj" fmla="val 14000"/>
            </a:avLst>
          </a:prstGeom>
          <a:solidFill>
            <a:srgbClr val="17273C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480560" y="5065776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5111496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120"/>
                </a:solidFill>
                <a:latin typeface="Apto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04748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DA64F"/>
                </a:solidFill>
                <a:latin typeface="Aptos"/>
              </a:rPr>
              <a:t>SIMULATE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029200"/>
            <a:ext cx="42976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EF4FF"/>
                </a:solidFill>
                <a:latin typeface="Aptos"/>
              </a:rPr>
              <a:t>Module A: weights
Module B: stress scenarios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889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58368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D"/>
                </a:solidFill>
                <a:latin typeface="Aptos"/>
              </a:rPr>
              <a:t>S&amp;P Global &amp; Crisil Campus Hackathon 2026  |  Synthetic demo results are simulations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5836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7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70915"/>
            <a:ext cx="50292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6907"/>
            <a:ext cx="50292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2900"/>
            <a:ext cx="50292" cy="3840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34340"/>
            <a:ext cx="50292" cy="20116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5603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03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1876" y="763524"/>
            <a:ext cx="11128248" cy="0"/>
          </a:xfrm>
          <a:prstGeom prst="line">
            <a:avLst/>
          </a:prstGeom>
          <a:ln w="1143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78638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EF4FF"/>
                </a:solidFill>
                <a:latin typeface="Aptos"/>
              </a:rPr>
              <a:t>One event contract powers both risk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9844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7CD"/>
                </a:solidFill>
                <a:latin typeface="Aptos"/>
              </a:rPr>
              <a:t>Sources -&gt; NLP -&gt; structured signals -&gt; two constrained simulations. Historical impact training is optional, not active.</a:t>
            </a:r>
          </a:p>
        </p:txBody>
      </p:sp>
      <p:pic>
        <p:nvPicPr>
          <p:cNvPr id="13" name="Picture 1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07" y="1664208"/>
            <a:ext cx="10012680" cy="4711849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889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8368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D"/>
                </a:solidFill>
                <a:latin typeface="Aptos"/>
              </a:rPr>
              <a:t>Full Mermaid source: architecture.md  |  Diagram: docs/architecture.svg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836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7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70915"/>
            <a:ext cx="50292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6907"/>
            <a:ext cx="50292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2900"/>
            <a:ext cx="50292" cy="3840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34340"/>
            <a:ext cx="50292" cy="20116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5603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IMPLEMENTATION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04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786384"/>
            <a:ext cx="11128248" cy="0"/>
          </a:xfrm>
          <a:prstGeom prst="line">
            <a:avLst/>
          </a:prstGeom>
          <a:ln w="1143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78638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EF4FF"/>
                </a:solidFill>
                <a:latin typeface="Aptos"/>
              </a:rPr>
              <a:t>Specialized models. Explicit routing. Interpretable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9844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6B7CD"/>
                </a:solidFill>
                <a:latin typeface="Aptos"/>
              </a:rPr>
              <a:t>Each component has one role; downstream decisions remain inspectable.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536192"/>
            <a:ext cx="2377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D"/>
                </a:solidFill>
                <a:latin typeface="Aptos"/>
              </a:rPr>
              <a:t>COMPONENT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1536192"/>
            <a:ext cx="29718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D"/>
                </a:solidFill>
                <a:latin typeface="Aptos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536192"/>
            <a:ext cx="5074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D"/>
                </a:solidFill>
                <a:latin typeface="Aptos"/>
              </a:rPr>
              <a:t>WHY IT 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10512"/>
            <a:ext cx="10927080" cy="640080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762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1810512"/>
            <a:ext cx="45720" cy="640080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1920240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FinBERT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2176272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5C9A6"/>
                </a:solidFill>
                <a:latin typeface="Aptos"/>
              </a:rPr>
              <a:t>ProsusAI/finbert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1901952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4FF"/>
                </a:solidFill>
                <a:latin typeface="Aptos"/>
              </a:rPr>
              <a:t>Financial sentiment
Signed score in [-1, 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90195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B7CD"/>
                </a:solidFill>
                <a:latin typeface="Aptos"/>
              </a:rPr>
              <a:t>Financial-domain language rather than generic sentiment.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478024"/>
            <a:ext cx="10927080" cy="640080"/>
          </a:xfrm>
          <a:prstGeom prst="roundRect">
            <a:avLst>
              <a:gd name="adj" fmla="val 14000"/>
            </a:avLst>
          </a:prstGeom>
          <a:solidFill>
            <a:srgbClr val="101C2E"/>
          </a:solidFill>
          <a:ln w="762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2478024"/>
            <a:ext cx="45720" cy="640080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" y="2587752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Financial 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2843784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9DE8"/>
                </a:solidFill>
                <a:latin typeface="Aptos"/>
              </a:rPr>
              <a:t>whataboutyou-ai/financial_bert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2569464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4FF"/>
                </a:solidFill>
                <a:latin typeface="Aptos"/>
              </a:rPr>
              <a:t>Entity mentions
Organization / person / 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56946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B7CD"/>
                </a:solidFill>
                <a:latin typeface="Aptos"/>
              </a:rPr>
              <a:t>Helps connect company names to ticker-resolution logic.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145536"/>
            <a:ext cx="10927080" cy="640080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762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3145536"/>
            <a:ext cx="45720" cy="640080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" y="3255264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Finance-topic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3511296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5C9A6"/>
                </a:solidFill>
                <a:latin typeface="Aptos"/>
              </a:rPr>
              <a:t>leonas5555/finnews-topic-single-classify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7248" y="3236976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4FF"/>
                </a:solidFill>
                <a:latin typeface="Aptos"/>
              </a:rPr>
              <a:t>Pretrained financial topic
Mapped to EventPulse labels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3236976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B7CD"/>
                </a:solidFill>
                <a:latin typeface="Aptos"/>
              </a:rPr>
              <a:t>Provides a domain-specific first classification signal.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813048"/>
            <a:ext cx="10927080" cy="640080"/>
          </a:xfrm>
          <a:prstGeom prst="roundRect">
            <a:avLst>
              <a:gd name="adj" fmla="val 14000"/>
            </a:avLst>
          </a:prstGeom>
          <a:solidFill>
            <a:srgbClr val="101C2E"/>
          </a:solidFill>
          <a:ln w="762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3813048"/>
            <a:ext cx="45720" cy="640080"/>
          </a:xfrm>
          <a:prstGeom prst="rect">
            <a:avLst/>
          </a:prstGeom>
          <a:solidFill>
            <a:srgbClr val="A49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3922776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Zero-shot + router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4178808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493F5"/>
                </a:solidFill>
                <a:latin typeface="Aptos"/>
              </a:rPr>
              <a:t>ModernBERT-base-zeroshot-v2.0
+ EventClassifierRouter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7248" y="3904487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4FF"/>
                </a:solidFill>
                <a:latin typeface="Aptos"/>
              </a:rPr>
              <a:t>Compares candidate event labels
Router considers agreement and score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3904487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B7CD"/>
                </a:solidFill>
                <a:latin typeface="Aptos"/>
              </a:rPr>
              <a:t>Adds task-specific label descriptions without training a new classifier.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480560"/>
            <a:ext cx="10927080" cy="640080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762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4480560"/>
            <a:ext cx="45720" cy="640080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4590288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BGE embeddings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" y="4846320"/>
            <a:ext cx="22128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9DE8"/>
                </a:solidFill>
                <a:latin typeface="Aptos"/>
              </a:rPr>
              <a:t>BAAI/bge-small-en-v1.5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248" y="4572000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4FF"/>
                </a:solidFill>
                <a:latin typeface="Aptos"/>
              </a:rPr>
              <a:t>Normalized text vectors
Cosine similarity + time/ticker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457200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6B7CD"/>
                </a:solidFill>
                <a:latin typeface="Aptos"/>
              </a:rPr>
              <a:t>Groups semantically related reports; embeddings alone do not prove same event.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285232"/>
            <a:ext cx="10927080" cy="749808"/>
          </a:xfrm>
          <a:prstGeom prst="roundRect">
            <a:avLst>
              <a:gd name="adj" fmla="val 14000"/>
            </a:avLst>
          </a:prstGeom>
          <a:solidFill>
            <a:srgbClr val="352819"/>
          </a:solidFill>
          <a:ln w="12700">
            <a:solidFill>
              <a:srgbClr val="DDA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" y="544982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DA64F"/>
                </a:solidFill>
                <a:latin typeface="Aptos"/>
              </a:rPr>
              <a:t>IMPACT SCORE  |  ACTIVE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5431536"/>
            <a:ext cx="8092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4FF"/>
                </a:solidFill>
                <a:latin typeface="Aptos"/>
              </a:rPr>
              <a:t>Severity + sentiment strength + breadth + confidence + novelty -&gt; heuristic score 1-10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5705856"/>
            <a:ext cx="10424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ACDA4"/>
                </a:solidFill>
                <a:latin typeface="Aptos"/>
              </a:rPr>
              <a:t>No accepted historical impact-model artifact is included; the 1-10 score is not a calibrated probability or return forecast.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889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58368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D"/>
                </a:solidFill>
                <a:latin typeface="Aptos"/>
              </a:rPr>
              <a:t>S&amp;P Global &amp; Crisil Campus Hackathon 2026  |  Synthetic demo results are simulations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5836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7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66344"/>
            <a:ext cx="54864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2336"/>
            <a:ext cx="54864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7472"/>
            <a:ext cx="54864" cy="384048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29768"/>
            <a:ext cx="54864" cy="201168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011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WORKING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3928" y="201168"/>
            <a:ext cx="7589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D"/>
                </a:solidFill>
                <a:latin typeface="Aptos"/>
              </a:rPr>
              <a:t>05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768096"/>
            <a:ext cx="11128248" cy="0"/>
          </a:xfrm>
          <a:prstGeom prst="line">
            <a:avLst/>
          </a:prstGeom>
          <a:ln w="1016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1016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565392"/>
            <a:ext cx="10561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6B7CD"/>
                </a:solidFill>
                <a:latin typeface="Aptos"/>
              </a:rPr>
              <a:t>S&amp;P Global &amp; Crisil Campus Hackathon 2026  |  Synthetic demo results are simulations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6539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6B7CD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68096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EEF4FF"/>
                </a:solidFill>
                <a:latin typeface="Aptos"/>
              </a:rPr>
              <a:t>A working dashboard exposes the pipeline end to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7101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6B7CD"/>
                </a:solidFill>
                <a:latin typeface="Aptos"/>
              </a:rPr>
              <a:t>The Streamlit interface reads the saved synthetic replay and makes both downstream modules inspectable.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1664208"/>
            <a:ext cx="6629400" cy="4343400"/>
          </a:xfrm>
          <a:prstGeom prst="roundRect">
            <a:avLst>
              <a:gd name="adj" fmla="val 12000"/>
            </a:avLst>
          </a:prstGeom>
          <a:solidFill>
            <a:srgbClr val="101C2E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reenshot 2026-10-11 225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719072"/>
            <a:ext cx="6519672" cy="3438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6384" y="5266944"/>
            <a:ext cx="6172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C9A6"/>
                </a:solidFill>
                <a:latin typeface="Aptos"/>
              </a:rPr>
              <a:t>RISK FEED  /  12 structured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13832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D7E6"/>
                </a:solidFill>
                <a:latin typeface="Aptos"/>
              </a:rPr>
              <a:t>Headline, category, sentiment, impact, ticker and cluster context in one 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664208"/>
            <a:ext cx="4133087" cy="2176272"/>
          </a:xfrm>
          <a:prstGeom prst="roundRect">
            <a:avLst>
              <a:gd name="adj" fmla="val 12000"/>
            </a:avLst>
          </a:prstGeom>
          <a:solidFill>
            <a:srgbClr val="101C2E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creenshot 2026-10-11 225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719072"/>
            <a:ext cx="4023360" cy="206654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0648" y="3840480"/>
            <a:ext cx="396849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5C9A6"/>
                </a:solidFill>
                <a:latin typeface="Aptos"/>
              </a:rPr>
              <a:t>MODULE A  /  Before–after portfolio weights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4133087"/>
            <a:ext cx="4133087" cy="1874519"/>
          </a:xfrm>
          <a:prstGeom prst="roundRect">
            <a:avLst>
              <a:gd name="adj" fmla="val 12000"/>
            </a:avLst>
          </a:prstGeom>
          <a:solidFill>
            <a:srgbClr val="101C2E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module_b_metric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4178808"/>
            <a:ext cx="4023360" cy="1362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0648" y="5559552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DDA64F"/>
                </a:solidFill>
                <a:latin typeface="Aptos"/>
              </a:rPr>
              <a:t>MODULE B  /  USD 1B portfolio; $76.944M simulated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5824728"/>
            <a:ext cx="39684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6B7CD"/>
                </a:solidFill>
                <a:latin typeface="Aptos"/>
              </a:rPr>
              <a:t>Captures show the current UI; headlines, weights and shocks are synthetic.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70915"/>
            <a:ext cx="50292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6907"/>
            <a:ext cx="50292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2900"/>
            <a:ext cx="50292" cy="38404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34340"/>
            <a:ext cx="50292" cy="201168"/>
          </a:xfrm>
          <a:prstGeom prst="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5603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603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KEY RESULTS &amp; DOMAIN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256032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06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0352" y="768096"/>
            <a:ext cx="11128248" cy="0"/>
          </a:xfrm>
          <a:prstGeom prst="line">
            <a:avLst/>
          </a:prstGeom>
          <a:ln w="1143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786384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EF4FF"/>
                </a:solidFill>
                <a:latin typeface="Aptos"/>
              </a:rPr>
              <a:t>From event triage to constrained risk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98448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6B7CD"/>
                </a:solidFill>
                <a:latin typeface="Aptos"/>
              </a:rPr>
              <a:t>One event contract connects analyst triage, portfolio review and bank scenario analysis; all replay metrics are synthetic.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572768"/>
            <a:ext cx="2103120" cy="786384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1700784"/>
            <a:ext cx="18470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B9DE8"/>
                </a:solidFill>
                <a:latin typeface="Aptos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103120"/>
            <a:ext cx="184708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D"/>
                </a:solidFill>
                <a:latin typeface="Aptos"/>
              </a:rPr>
              <a:t>synthetic articles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5" y="1572768"/>
            <a:ext cx="2103120" cy="786384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1700784"/>
            <a:ext cx="18470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5C9A6"/>
                </a:solidFill>
                <a:latin typeface="Aptos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103120"/>
            <a:ext cx="184708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D"/>
                </a:solidFill>
                <a:latin typeface="Aptos"/>
              </a:rPr>
              <a:t>structured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1572768"/>
            <a:ext cx="2103120" cy="786384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0368" y="1700784"/>
            <a:ext cx="18470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493F5"/>
                </a:solidFill>
                <a:latin typeface="Aptos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103120"/>
            <a:ext cx="184708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D"/>
                </a:solidFill>
                <a:latin typeface="Aptos"/>
              </a:rPr>
              <a:t>replay contributions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1572768"/>
            <a:ext cx="2103120" cy="786384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1700784"/>
            <a:ext cx="18470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DA64F"/>
                </a:solidFill>
                <a:latin typeface="Aptos"/>
              </a:rPr>
              <a:t>5.90%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103120"/>
            <a:ext cx="184708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D"/>
                </a:solidFill>
                <a:latin typeface="Aptos"/>
              </a:rPr>
              <a:t>one-way turnover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1572768"/>
            <a:ext cx="2103120" cy="786384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143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700784"/>
            <a:ext cx="184708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676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03120"/>
            <a:ext cx="184708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D"/>
                </a:solidFill>
                <a:latin typeface="Aptos"/>
              </a:rPr>
              <a:t>stress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2642616"/>
            <a:ext cx="5349240" cy="2779776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_crop_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79192"/>
            <a:ext cx="5276088" cy="270662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199632" y="2642616"/>
            <a:ext cx="5349240" cy="2779776"/>
          </a:xfrm>
          <a:prstGeom prst="roundRect">
            <a:avLst>
              <a:gd name="adj" fmla="val 14000"/>
            </a:avLst>
          </a:prstGeom>
          <a:solidFill>
            <a:srgbClr val="142238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_crop_te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679192"/>
            <a:ext cx="5276088" cy="27066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4088" y="5468112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5C9A6"/>
                </a:solidFill>
                <a:latin typeface="Aptos"/>
              </a:rPr>
              <a:t>MODULE A  |  12-stock index; 3 snapshots; 5.90% turnover vs 10%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5468112"/>
            <a:ext cx="5212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493F5"/>
                </a:solidFill>
                <a:latin typeface="Aptos"/>
              </a:rPr>
              <a:t>MODULE B  |  Three independent stress results; position-level attribution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15584"/>
            <a:ext cx="10881360" cy="393192"/>
          </a:xfrm>
          <a:prstGeom prst="roundRect">
            <a:avLst>
              <a:gd name="adj" fmla="val 14000"/>
            </a:avLst>
          </a:prstGeom>
          <a:solidFill>
            <a:srgbClr val="352819"/>
          </a:solidFill>
          <a:ln w="10160">
            <a:solidFill>
              <a:srgbClr val="DDA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" y="5916168"/>
            <a:ext cx="10515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1D5A7"/>
                </a:solidFill>
                <a:latin typeface="Aptos"/>
              </a:rPr>
              <a:t>89 tests passed (1 dependency deprecation warning). Live smoke: SEC 10 records; GDELT HTTP 429.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889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8368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D"/>
                </a:solidFill>
                <a:latin typeface="Aptos"/>
              </a:rPr>
              <a:t>S&amp;P Global &amp; Crisil Campus Hackathon 2026  |  Synthetic demo results are simulations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58368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7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" y="466344"/>
            <a:ext cx="54864" cy="128016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02336"/>
            <a:ext cx="54864" cy="256032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347472"/>
            <a:ext cx="54864" cy="384048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" y="429768"/>
            <a:ext cx="54864" cy="201168"/>
          </a:xfrm>
          <a:prstGeom prst="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011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5C9A6"/>
                </a:solidFill>
                <a:latin typeface="Aptos"/>
              </a:rPr>
              <a:t>EVENTPULSE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116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7CD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3928" y="201168"/>
            <a:ext cx="7589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D"/>
                </a:solidFill>
                <a:latin typeface="Aptos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1876" y="768096"/>
            <a:ext cx="11128248" cy="0"/>
          </a:xfrm>
          <a:prstGeom prst="line">
            <a:avLst/>
          </a:prstGeom>
          <a:ln w="1016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" y="6528816"/>
            <a:ext cx="11128248" cy="0"/>
          </a:xfrm>
          <a:prstGeom prst="line">
            <a:avLst/>
          </a:prstGeom>
          <a:ln w="10160">
            <a:solidFill>
              <a:srgbClr val="2A3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565392"/>
            <a:ext cx="10561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6B7CD"/>
                </a:solidFill>
                <a:latin typeface="Aptos"/>
              </a:rPr>
              <a:t>EventPulse  |  From a reproducible prototype toward calibrated 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65392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6B7CD"/>
                </a:solidFill>
                <a:latin typeface="Apto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68096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EF4FF"/>
                </a:solidFill>
                <a:latin typeface="Aptos"/>
              </a:rPr>
              <a:t>Build toward decision-grade risk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7101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6B7CD"/>
                </a:solidFill>
                <a:latin typeface="Aptos"/>
              </a:rPr>
              <a:t>Future work targets stronger evidence, financial realism and resilient event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700784"/>
            <a:ext cx="3858768" cy="4416552"/>
          </a:xfrm>
          <a:prstGeom prst="roundRect">
            <a:avLst>
              <a:gd name="adj" fmla="val 12000"/>
            </a:avLst>
          </a:prstGeom>
          <a:solidFill>
            <a:srgbClr val="352819"/>
          </a:solidFill>
          <a:ln w="10160">
            <a:solidFill>
              <a:srgbClr val="6A4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192024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DA64F"/>
                </a:solidFill>
                <a:latin typeface="Aptos"/>
              </a:rPr>
              <a:t>CURRENT LIMITATIONS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2459736"/>
            <a:ext cx="91440" cy="91440"/>
          </a:xfrm>
          <a:prstGeom prst="ellipse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" y="2304288"/>
            <a:ext cx="3145536" cy="6583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D7E6"/>
                </a:solidFill>
                <a:latin typeface="Aptos"/>
              </a:rPr>
              <a:t>Synthetic 12-headline replay; no real-news benchmark or naive-baseline gains measured.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3209544"/>
            <a:ext cx="91440" cy="91440"/>
          </a:xfrm>
          <a:prstGeom prst="ellipse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" y="3054096"/>
            <a:ext cx="3145536" cy="6217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D7E6"/>
                </a:solidFill>
                <a:latin typeface="Aptos"/>
              </a:rPr>
              <a:t>Impact (1–10) is a heuristic; no accepted trained or calibrated impact model is included.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3922776"/>
            <a:ext cx="91440" cy="91440"/>
          </a:xfrm>
          <a:prstGeom prst="ellipse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" y="3767328"/>
            <a:ext cx="3145536" cy="7315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D7E6"/>
                </a:solidFill>
                <a:latin typeface="Aptos"/>
              </a:rPr>
              <a:t>The index and bank portfolio are simulated. Derivative exposure uses a return-shock proxy, not pricing or Greeks.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4754880"/>
            <a:ext cx="91440" cy="91440"/>
          </a:xfrm>
          <a:prstGeom prst="ellipse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6424" y="4599432"/>
            <a:ext cx="3145536" cy="6583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D7E6"/>
                </a:solidFill>
                <a:latin typeface="Aptos"/>
              </a:rPr>
              <a:t>Public feeds can throttle; GDELT returned HTTP 429 in the last recorded live smoke test.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1700784"/>
            <a:ext cx="6830568" cy="4416552"/>
          </a:xfrm>
          <a:prstGeom prst="roundRect">
            <a:avLst>
              <a:gd name="adj" fmla="val 12000"/>
            </a:avLst>
          </a:prstGeom>
          <a:solidFill>
            <a:srgbClr val="101C2E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65192" y="1920240"/>
            <a:ext cx="62910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5C9A6"/>
                </a:solidFill>
                <a:latin typeface="Aptos"/>
              </a:rPr>
              <a:t>ENGINEERING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5192" y="2286000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142238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138928" y="2496312"/>
            <a:ext cx="448056" cy="448056"/>
          </a:xfrm>
          <a:prstGeom prst="roundRect">
            <a:avLst/>
          </a:prstGeom>
          <a:solidFill>
            <a:srgbClr val="35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8928" y="2496312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120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2395728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Outcome-linked impact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2" y="267919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C2D7E6"/>
                </a:solidFill>
                <a:latin typeface="Aptos"/>
              </a:rPr>
              <a:t>Build point-in-time event–issuer–market outcome labels; learn impact scores and calibrate confidence without look-ahead leakage.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192" y="3456432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142238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3666744"/>
            <a:ext cx="448056" cy="448056"/>
          </a:xfrm>
          <a:prstGeom prst="roundRect">
            <a:avLst/>
          </a:prstGeom>
          <a:solidFill>
            <a:srgbClr val="5B9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38928" y="3666744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120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42432" y="3566160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Financially realistic portfolio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3849624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C2D7E6"/>
                </a:solidFill>
                <a:latin typeface="Aptos"/>
              </a:rPr>
              <a:t>Add transaction costs, liquidity and concentration constraints; model correlated shocks and derivative Greeks/collateral.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65192" y="4626864"/>
            <a:ext cx="6309360" cy="960120"/>
          </a:xfrm>
          <a:prstGeom prst="roundRect">
            <a:avLst>
              <a:gd name="adj" fmla="val 12000"/>
            </a:avLst>
          </a:prstGeom>
          <a:solidFill>
            <a:srgbClr val="142238"/>
          </a:solidFill>
          <a:ln w="1016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138928" y="4837176"/>
            <a:ext cx="448056" cy="448056"/>
          </a:xfrm>
          <a:prstGeom prst="roundRect">
            <a:avLst/>
          </a:prstGeom>
          <a:solidFill>
            <a:srgbClr val="DDA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38928" y="4837176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120"/>
                </a:solidFill>
                <a:latin typeface="Apto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2432" y="4736592"/>
            <a:ext cx="53035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EF4FF"/>
                </a:solidFill>
                <a:latin typeface="Aptos"/>
              </a:rPr>
              <a:t>Resilient, explainable event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2432" y="5020055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C2D7E6"/>
                </a:solidFill>
                <a:latin typeface="Aptos"/>
              </a:rPr>
              <a:t>Improve issuer/ticker resolution and cross-source corroboration; add source backoff/cache, analyst review and traceable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904</Words>
  <Application>Microsoft Office PowerPoint</Application>
  <PresentationFormat>Widescreen</PresentationFormat>
  <Paragraphs>139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EventPulse - S&amp;P Global &amp; Crisil Campus Hackathon 2026</dc:title>
  <dc:subject>AI financial risk intelligence prototype</dc:subject>
  <dc:creator>Vansh Goyal</dc:creator>
  <cp:keywords>EventPulse, financial news, risk intelligence, synthetic stress testing</cp:keywords>
  <dc:description>generated using python-pptx</dc:description>
  <cp:lastModifiedBy>Vansh Goyal</cp:lastModifiedBy>
  <cp:revision>2</cp:revision>
  <dcterms:created xsi:type="dcterms:W3CDTF">2013-01-27T09:14:16Z</dcterms:created>
  <dcterms:modified xsi:type="dcterms:W3CDTF">2026-10-11T18:09:22Z</dcterms:modified>
  <cp:category/>
</cp:coreProperties>
</file>